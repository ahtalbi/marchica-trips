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3384FF6-2FD2-241F-2F17-4CC0C8A7C961}">
          <p14:sldIdLst>
            <p14:sldId id="256"/>
          </p14:sldIdLst>
        </p14:section>
        <p14:section name="Framework or library" id="{DD661900-1E8D-6280-5D31-9CDFA66175E8}">
          <p14:sldIdLst>
            <p14:sldId id="257"/>
            <p14:sldId id="258"/>
          </p14:sldIdLst>
        </p14:section>
        <p14:section name="Bootstrap" id="{FB62AAD4-7CB4-2580-EFEF-7F903A1F8CF6}">
          <p14:sldIdLst>
            <p14:sldId id="259"/>
            <p14:sldId id="260"/>
            <p14:sldId id="261"/>
            <p14:sldId id="262"/>
            <p14:sldId id="263"/>
          </p14:sldIdLst>
        </p14:section>
        <p14:section name="Tailwind" id="{63916F56-BDD7-1611-72D9-4930FE5EED31}">
          <p14:sldIdLst>
            <p14:sldId id="264"/>
            <p14:sldId id="265"/>
            <p14:sldId id="266"/>
          </p14:sldIdLst>
        </p14:section>
        <p14:section name="Cloture" id="{EB9CAA55-CE69-258B-EB80-9342B988571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620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names people put in the same sentence. They are not the same kind of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library is something you call. A framework is something that calls your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Hollywood principle names the inversion: you register code, the framework decides when to run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sur Bootstrap : ce que c'est, qui l'a cree, et en quoi il differe du 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briques : du CSS, des composants prets a l'emploi, et du JavaScript.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2010 en interne sous le nom Twitter Blueprint, 2011 en open source, 2012 le nom definitif.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CSS est le langage ; Bootstrap est un outil construit par-dessus.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 de la recherche. Le dernier point est le plus important pour un debutant.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Tailwind is young: 2017 to today, with v4 moving the configuration into CSS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button on screen. On the left the styling sits in a stylesheet, on the right it sits in the markup.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docs, then keep Tailwind Play open while practising.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de la presentation. Place aux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697480"/>
            <a:ext cx="57607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BI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324612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68680" y="544068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566928"/>
            <a:ext cx="96926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CA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870448" y="1261872"/>
            <a:ext cx="5120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7A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76656" y="553212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kern="0" spc="15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hyperlink" Target="https://developer.mozilla.org/en-US/docs/Web/CS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youtube.com/@TailwindLabs" TargetMode="External"/><Relationship Id="rId5" Type="http://schemas.openxmlformats.org/officeDocument/2006/relationships/hyperlink" Target="https://play.tailwindcss.com" TargetMode="External"/><Relationship Id="rId4" Type="http://schemas.openxmlformats.org/officeDocument/2006/relationships/hyperlink" Target="https://tailwindcss.com/docs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drop" descr="/home/claude/art/bg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logo" descr="/home/claude/art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813816"/>
            <a:ext cx="1883664" cy="54864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697480"/>
            <a:ext cx="5760720" cy="2377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200" b="1" dirty="0">
                <a:solidFill>
                  <a:schemeClr val="tx1"/>
                </a:solidFill>
              </a:rPr>
              <a:t>What is the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chemeClr val="tx1"/>
                </a:solidFill>
              </a:rPr>
              <a:t>difference between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chemeClr val="tx1"/>
                </a:solidFill>
              </a:rPr>
              <a:t>CSS, Tailwind and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chemeClr val="tx1"/>
                </a:solidFill>
              </a:rPr>
              <a:t>Bootstrap?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566928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What is the difference between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a framework and a library?</a:t>
            </a:r>
            <a:endParaRPr lang="en-US" sz="3800" dirty="0"/>
          </a:p>
        </p:txBody>
      </p:sp>
      <p:pic>
        <p:nvPicPr>
          <p:cNvPr id="3" name="photo-framework" descr="/home/claude/art/frame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920240"/>
            <a:ext cx="4974336" cy="2560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24128" y="4572000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C0000"/>
                </a:solidFill>
              </a:rPr>
              <a:t>Framework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1024128" y="4974336"/>
            <a:ext cx="49743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171B"/>
                </a:solidFill>
              </a:rPr>
              <a:t>It is a set of libraries, but this time the framework does not just offer functionalities: it also provides an architecture for the development work. In other words, you do not include a framework, you integrate your code into it. It is the wireframe of the project. That is why a framework forces its coding style on you.</a:t>
            </a:r>
            <a:endParaRPr lang="en-US" sz="1350" dirty="0"/>
          </a:p>
        </p:txBody>
      </p:sp>
      <p:pic>
        <p:nvPicPr>
          <p:cNvPr id="6" name="photo-library" descr="/home/claude/art/librar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1920240"/>
            <a:ext cx="4974336" cy="2560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63056" y="4572000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C0000"/>
                </a:solidFill>
              </a:rPr>
              <a:t>Library</a:t>
            </a:r>
            <a:endParaRPr lang="en-US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6163056" y="4974336"/>
            <a:ext cx="49743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171B"/>
                </a:solidFill>
              </a:rPr>
              <a:t>A library at its core is a collection of packages. Its purpose is to offer a set of functionalities ready to use, without worrying about the packages underneath. So a library is what you include when you want to add some functionality to your code. It does not force any coding style on you either.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566928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Who calls who?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024128" y="19019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C0000"/>
                </a:solidFill>
              </a:rPr>
              <a:t>•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1901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171B"/>
                </a:solidFill>
              </a:rPr>
              <a:t>Library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29514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C0000"/>
                </a:solidFill>
              </a:rPr>
              <a:t>◦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883664" y="22951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7171B"/>
                </a:solidFill>
              </a:rPr>
              <a:t>You call it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262432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C0000"/>
                </a:solidFill>
              </a:rPr>
              <a:t>◦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883664" y="26243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7171B"/>
                </a:solidFill>
              </a:rPr>
              <a:t>You use callbacks to extend it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4015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C0000"/>
                </a:solidFill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35024" y="34015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171B"/>
                </a:solidFill>
              </a:rPr>
              <a:t>Framework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7947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C0000"/>
                </a:solidFill>
              </a:rPr>
              <a:t>◦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1883664" y="37947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17171B"/>
                </a:solidFill>
              </a:rPr>
              <a:t>Hollywood principle</a:t>
            </a:r>
            <a:r>
              <a:rPr lang="en-US" sz="1650" dirty="0">
                <a:solidFill>
                  <a:srgbClr val="17171B"/>
                </a:solidFill>
              </a:rPr>
              <a:t>: Don't call me, I will call you</a:t>
            </a:r>
            <a:endParaRPr lang="en-US" sz="1650" dirty="0"/>
          </a:p>
        </p:txBody>
      </p:sp>
      <p:sp>
        <p:nvSpPr>
          <p:cNvPr id="13" name="codebox"/>
          <p:cNvSpPr/>
          <p:nvPr/>
        </p:nvSpPr>
        <p:spPr>
          <a:xfrm>
            <a:off x="6400800" y="1847088"/>
            <a:ext cx="4736592" cy="1371600"/>
          </a:xfrm>
          <a:prstGeom prst="roundRect">
            <a:avLst>
              <a:gd name="adj" fmla="val 6000"/>
            </a:avLst>
          </a:prstGeom>
          <a:solidFill>
            <a:srgbClr val="17171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01968" y="1984248"/>
            <a:ext cx="4334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sayHello() 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console.log("Hello!");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sayHello();</a:t>
            </a:r>
            <a:endParaRPr lang="en-US" sz="1100" dirty="0"/>
          </a:p>
        </p:txBody>
      </p:sp>
      <p:sp>
        <p:nvSpPr>
          <p:cNvPr id="15" name="codebox"/>
          <p:cNvSpPr/>
          <p:nvPr/>
        </p:nvSpPr>
        <p:spPr>
          <a:xfrm>
            <a:off x="6400800" y="3364992"/>
            <a:ext cx="4736592" cy="1371600"/>
          </a:xfrm>
          <a:prstGeom prst="roundRect">
            <a:avLst>
              <a:gd name="adj" fmla="val 6000"/>
            </a:avLst>
          </a:prstGeom>
          <a:solidFill>
            <a:srgbClr val="17171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01968" y="3502152"/>
            <a:ext cx="4334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sayHello(req, res) 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res.send("Hello!");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app.get("/hello", sayHello);</a:t>
            </a:r>
            <a:endParaRPr lang="en-US" sz="1100" dirty="0"/>
          </a:p>
        </p:txBody>
      </p:sp>
      <p:sp>
        <p:nvSpPr>
          <p:cNvPr id="17" name="ioc-panel"/>
          <p:cNvSpPr/>
          <p:nvPr/>
        </p:nvSpPr>
        <p:spPr>
          <a:xfrm>
            <a:off x="1024128" y="4937760"/>
            <a:ext cx="10113264" cy="1444752"/>
          </a:xfrm>
          <a:prstGeom prst="rect">
            <a:avLst/>
          </a:prstGeom>
          <a:solidFill>
            <a:srgbClr val="F2F3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08176" y="51572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C0000"/>
                </a:solidFill>
              </a:rPr>
              <a:t>Inversion of Control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1408176" y="5577840"/>
            <a:ext cx="9345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7171B"/>
                </a:solidFill>
              </a:rPr>
              <a:t>Inversion of Control (IoC) is a software design principle where the flow of program execution is shifted from your custom application code to an external framework, container, or system.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drop" descr="/home/claude/art/bg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logo" descr="/home/claude/art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813816"/>
            <a:ext cx="1883664" cy="54864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324612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7200" b="1" dirty="0">
                <a:solidFill>
                  <a:schemeClr val="tx1"/>
                </a:solidFill>
              </a:rPr>
              <a:t>Bootstrap</a:t>
            </a:r>
            <a:endParaRPr lang="en-US" sz="72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868680" y="54406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Written by Laamim Anas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drop" descr="/home/claude/art/b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white-card"/>
          <p:cNvSpPr/>
          <p:nvPr/>
        </p:nvSpPr>
        <p:spPr>
          <a:xfrm>
            <a:off x="676656" y="557784"/>
            <a:ext cx="10808208" cy="5596128"/>
          </a:xfrm>
          <a:prstGeom prst="roundRect">
            <a:avLst>
              <a:gd name="adj" fmla="val 1634"/>
            </a:avLst>
          </a:prstGeom>
          <a:solidFill>
            <a:srgbClr val="FFFFFF"/>
          </a:solidFill>
          <a:ln/>
        </p:spPr>
      </p:sp>
      <p:pic>
        <p:nvPicPr>
          <p:cNvPr id="4" name="illustration" descr="/home/claude/art/ill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1143000"/>
            <a:ext cx="4169664" cy="4443984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870448" y="1261872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Qu'est-ce que Bootstrap ?</a:t>
            </a:r>
            <a:endParaRPr lang="en-US" sz="3800" dirty="0"/>
          </a:p>
        </p:txBody>
      </p:sp>
      <p:sp>
        <p:nvSpPr>
          <p:cNvPr id="6" name="Text 2"/>
          <p:cNvSpPr txBox="1"/>
          <p:nvPr/>
        </p:nvSpPr>
        <p:spPr>
          <a:xfrm>
            <a:off x="5897880" y="2606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F4451"/>
                </a:solidFill>
              </a:rPr>
              <a:t>Bootstrap est un framework front-end gratuit et open source, qui sert à créer rapidement des sites web responsives (qui s'adaptent à toutes les tailles d'écran : ordinateur, tablette, téléphone).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5897880" y="35387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4451"/>
                </a:solidFill>
              </a:rPr>
              <a:t>Il regroupe :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6080760" y="385876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450" dirty="0">
                <a:solidFill>
                  <a:srgbClr val="3F4451"/>
                </a:solidFill>
              </a:rPr>
              <a:t>•   </a:t>
            </a:r>
            <a:r>
              <a:rPr lang="en-US" sz="1450" b="1" dirty="0">
                <a:solidFill>
                  <a:srgbClr val="3F4451"/>
                </a:solidFill>
              </a:rPr>
              <a:t>Du CSS : </a:t>
            </a:r>
            <a:r>
              <a:rPr lang="en-US" sz="1450" dirty="0">
                <a:solidFill>
                  <a:srgbClr val="3F4451"/>
                </a:solidFill>
              </a:rPr>
              <a:t>une grille à 12 colonnes, des styles de base et des classes utilitaires (marges, couleurs, alignements...).</a:t>
            </a:r>
            <a:endParaRPr lang="en-US" sz="1450" dirty="0"/>
          </a:p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450" dirty="0">
                <a:solidFill>
                  <a:srgbClr val="3F4451"/>
                </a:solidFill>
              </a:rPr>
              <a:t>•   </a:t>
            </a:r>
            <a:r>
              <a:rPr lang="en-US" sz="1450" b="1" dirty="0">
                <a:solidFill>
                  <a:srgbClr val="3F4451"/>
                </a:solidFill>
              </a:rPr>
              <a:t>Des composants prêts à l'emploi : </a:t>
            </a:r>
            <a:r>
              <a:rPr lang="en-US" sz="1450" dirty="0">
                <a:solidFill>
                  <a:srgbClr val="3F4451"/>
                </a:solidFill>
              </a:rPr>
              <a:t>boutons, barres de navigation, cartes, formulaires, modales, carrousels...</a:t>
            </a:r>
            <a:endParaRPr lang="en-US" sz="1450" dirty="0"/>
          </a:p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450" dirty="0">
                <a:solidFill>
                  <a:srgbClr val="3F4451"/>
                </a:solidFill>
              </a:rPr>
              <a:t>•   </a:t>
            </a:r>
            <a:r>
              <a:rPr lang="en-US" sz="1450" b="1" dirty="0">
                <a:solidFill>
                  <a:srgbClr val="3F4451"/>
                </a:solidFill>
              </a:rPr>
              <a:t>Du JavaScript : </a:t>
            </a:r>
            <a:r>
              <a:rPr lang="en-US" sz="1450" dirty="0">
                <a:solidFill>
                  <a:srgbClr val="3F4451"/>
                </a:solidFill>
              </a:rPr>
              <a:t>pour rendre certains composants interactifs (menus déroulants, modales, etc.).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566928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Qui a créé Bootstrap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et Quand ?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1024128" y="1993392"/>
            <a:ext cx="4974336" cy="4059936"/>
          </a:xfrm>
          <a:prstGeom prst="rect">
            <a:avLst/>
          </a:prstGeom>
          <a:solidFill>
            <a:srgbClr val="F2F3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08176" y="24323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C0000"/>
                </a:solidFill>
              </a:rPr>
              <a:t>Qui 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08176" y="3035808"/>
            <a:ext cx="4206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7171B"/>
                </a:solidFill>
              </a:rPr>
              <a:t>Bootstrap a été créé chez Twitter par Mark Otto, designer, et Jacob Thornton, développeur, qui voulaient donner à toutes les équipes de l'entreprise une même boîte à outils pour construire des interfaces similaires, avant de le publier en open source, ce qui l'a rendu célèbre dans le monde entier.</a:t>
            </a:r>
            <a:endParaRPr lang="en-US" sz="1450" dirty="0"/>
          </a:p>
        </p:txBody>
      </p:sp>
      <p:sp>
        <p:nvSpPr>
          <p:cNvPr id="6" name="panel-1"/>
          <p:cNvSpPr/>
          <p:nvPr/>
        </p:nvSpPr>
        <p:spPr>
          <a:xfrm>
            <a:off x="6163056" y="1993392"/>
            <a:ext cx="4974336" cy="4059936"/>
          </a:xfrm>
          <a:prstGeom prst="rect">
            <a:avLst/>
          </a:prstGeom>
          <a:solidFill>
            <a:srgbClr val="F2F3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47104" y="24323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C0000"/>
                </a:solidFill>
              </a:rPr>
              <a:t>Quand ?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547104" y="3035808"/>
            <a:ext cx="4206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7171B"/>
                </a:solidFill>
              </a:rPr>
              <a:t>Bootstrap est né en 2010 chez Twitter, où il a d'abord été développé comme outil interne sous le nom de « Twitter Blueprint », avant d'être publié en open source le 19 août 2011, puis renommé simplement « Bootstrap » en 2012.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drop" descr="/home/claude/art/bg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566928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Quelle est la différence entre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Bootstrap et le CSS ?</a:t>
            </a:r>
            <a:endParaRPr lang="en-US" sz="3800" dirty="0"/>
          </a:p>
        </p:txBody>
      </p:sp>
      <p:sp>
        <p:nvSpPr>
          <p:cNvPr id="4" name="diffpanel-0"/>
          <p:cNvSpPr/>
          <p:nvPr/>
        </p:nvSpPr>
        <p:spPr>
          <a:xfrm>
            <a:off x="1024128" y="1993392"/>
            <a:ext cx="4974336" cy="4059936"/>
          </a:xfrm>
          <a:prstGeom prst="rect">
            <a:avLst/>
          </a:prstGeom>
          <a:solidFill>
            <a:srgbClr val="F2F3F7"/>
          </a:solidFill>
          <a:ln/>
        </p:spPr>
      </p:sp>
      <p:sp>
        <p:nvSpPr>
          <p:cNvPr id="5" name="diffmark-0"/>
          <p:cNvSpPr/>
          <p:nvPr/>
        </p:nvSpPr>
        <p:spPr>
          <a:xfrm>
            <a:off x="1408176" y="2304288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8575">
            <a:solidFill>
              <a:srgbClr val="CC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408176" y="2322576"/>
            <a:ext cx="713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2258568" y="230428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171B"/>
                </a:solidFill>
              </a:rPr>
              <a:t>Bootstrap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408176" y="3255264"/>
            <a:ext cx="4297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7171B"/>
                </a:solidFill>
              </a:rPr>
              <a:t>« Bootstrap est un framework open source construit sur CSS et JavaScript, qui fournit une grille et des composants prêts à l'emploi pour créer rapidement des sites web responsives. »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7171B"/>
                </a:solidFill>
              </a:rPr>
              <a:t>« Grâce à ses classes déjà écrites, Bootstrap permet de gagner du temps et d'obtenir un design cohérent sur tous les écrans, même si les sites peuvent parfois se ressembler. »</a:t>
            </a:r>
            <a:endParaRPr lang="en-US" sz="1400" dirty="0"/>
          </a:p>
        </p:txBody>
      </p:sp>
      <p:sp>
        <p:nvSpPr>
          <p:cNvPr id="9" name="diffpanel-1"/>
          <p:cNvSpPr/>
          <p:nvPr/>
        </p:nvSpPr>
        <p:spPr>
          <a:xfrm>
            <a:off x="6163056" y="1993392"/>
            <a:ext cx="4974336" cy="4059936"/>
          </a:xfrm>
          <a:prstGeom prst="rect">
            <a:avLst/>
          </a:prstGeom>
          <a:solidFill>
            <a:srgbClr val="F2F3F7"/>
          </a:solidFill>
          <a:ln/>
        </p:spPr>
      </p:sp>
      <p:sp>
        <p:nvSpPr>
          <p:cNvPr id="10" name="diffmark-1"/>
          <p:cNvSpPr/>
          <p:nvPr/>
        </p:nvSpPr>
        <p:spPr>
          <a:xfrm>
            <a:off x="6547104" y="2304288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8575">
            <a:solidFill>
              <a:srgbClr val="CC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47104" y="2322576"/>
            <a:ext cx="713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❏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397496" y="230428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171B"/>
                </a:solidFill>
              </a:rPr>
              <a:t>CSS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6547104" y="3255264"/>
            <a:ext cx="4297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7171B"/>
                </a:solidFill>
              </a:rPr>
              <a:t>« CSS est un langage de style qui permet de mettre en forme les pages web, en contrôlant les couleurs, les polices, les espacements et la disposition de chaque élément. »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7171B"/>
                </a:solidFill>
              </a:rPr>
              <a:t>« Avec CSS, le développeur écrit lui-même chaque règle, ce qui lui donne une liberté totale sur le design, mais demande plus de temps pour créer un site complet. »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566928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Research Results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2011680"/>
            <a:ext cx="9875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7171B"/>
                </a:solidFill>
              </a:rPr>
              <a:t>Bootstrap a été créé chez Twitter par Mark Otto et Jacob Thornton.</a:t>
            </a:r>
            <a:endParaRPr lang="en-US" sz="21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7171B"/>
                </a:solidFill>
              </a:rPr>
              <a:t>C'est un framework basé sur CSS et JavaScript.</a:t>
            </a:r>
            <a:endParaRPr lang="en-US" sz="21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7171B"/>
                </a:solidFill>
              </a:rPr>
              <a:t>Il est utilisé par des millions de sites dans le monde.</a:t>
            </a:r>
            <a:endParaRPr lang="en-US" sz="21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7171B"/>
                </a:solidFill>
              </a:rPr>
              <a:t>Il est rapide et responsive, mais les sites peuvent parfois se ressembler.</a:t>
            </a:r>
            <a:endParaRPr lang="en-US" sz="21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7171B"/>
                </a:solidFill>
              </a:rPr>
              <a:t>Il faut apprendre CSS d'abord, puis utiliser Bootstrap par-dessus.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566928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Tailwind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024128" y="1847088"/>
            <a:ext cx="10113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7171B"/>
                </a:solidFill>
              </a:rPr>
              <a:t>Tailwind CSS is a utility-first CSS framework created by Adam Wathan and his team to make styling websites faster and easier.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2651760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171B"/>
                </a:solidFill>
              </a:rPr>
              <a:t>Here is its history in a few steps: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108960"/>
            <a:ext cx="10113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CC0000"/>
                </a:solidFill>
              </a:rPr>
              <a:t>•   </a:t>
            </a:r>
            <a:r>
              <a:rPr lang="en-US" sz="1450" b="1" dirty="0">
                <a:solidFill>
                  <a:srgbClr val="17171B"/>
                </a:solidFill>
              </a:rPr>
              <a:t>2017:</a:t>
            </a:r>
            <a:r>
              <a:rPr lang="en-US" sz="1450" dirty="0">
                <a:solidFill>
                  <a:srgbClr val="17171B"/>
                </a:solidFill>
              </a:rPr>
              <a:t> Tailwind CSS was first released. It introduced a different approach to styling websites using small, reusable utility classes instead of writing custom CSS for every element.</a:t>
            </a:r>
            <a:endParaRPr lang="en-US" sz="145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CC0000"/>
                </a:solidFill>
              </a:rPr>
              <a:t>•   </a:t>
            </a:r>
            <a:r>
              <a:rPr lang="en-US" sz="1450" b="1" dirty="0">
                <a:solidFill>
                  <a:srgbClr val="17171B"/>
                </a:solidFill>
              </a:rPr>
              <a:t>2020:</a:t>
            </a:r>
            <a:r>
              <a:rPr lang="en-US" sz="1450" dirty="0">
                <a:solidFill>
                  <a:srgbClr val="17171B"/>
                </a:solidFill>
              </a:rPr>
              <a:t> Tailwind CSS v2.0 was released, bringing improvements such as better color palettes and support for dark mode.</a:t>
            </a:r>
            <a:endParaRPr lang="en-US" sz="145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CC0000"/>
                </a:solidFill>
              </a:rPr>
              <a:t>•   </a:t>
            </a:r>
            <a:r>
              <a:rPr lang="en-US" sz="1450" b="1" dirty="0">
                <a:solidFill>
                  <a:srgbClr val="17171B"/>
                </a:solidFill>
              </a:rPr>
              <a:t>2021:</a:t>
            </a:r>
            <a:r>
              <a:rPr lang="en-US" sz="1450" dirty="0">
                <a:solidFill>
                  <a:srgbClr val="17171B"/>
                </a:solidFill>
              </a:rPr>
              <a:t> Tailwind CSS v3.0 introduced features such as Just-in-Time (JIT) compilation by default, making it easier to generate the CSS your project needs.</a:t>
            </a:r>
            <a:endParaRPr lang="en-US" sz="145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CC0000"/>
                </a:solidFill>
              </a:rPr>
              <a:t>•   </a:t>
            </a:r>
            <a:r>
              <a:rPr lang="en-US" sz="1450" b="1" dirty="0">
                <a:solidFill>
                  <a:srgbClr val="17171B"/>
                </a:solidFill>
              </a:rPr>
              <a:t>2024:</a:t>
            </a:r>
            <a:r>
              <a:rPr lang="en-US" sz="1450" dirty="0">
                <a:solidFill>
                  <a:srgbClr val="17171B"/>
                </a:solidFill>
              </a:rPr>
              <a:t> Tailwind CSS v4.0 was announced, introducing a new engine, simpler configuration, and a more CSS-focused approach.</a:t>
            </a:r>
            <a:endParaRPr lang="en-US" sz="145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CC0000"/>
                </a:solidFill>
              </a:rPr>
              <a:t>•   </a:t>
            </a:r>
            <a:r>
              <a:rPr lang="en-US" sz="1450" b="1" dirty="0">
                <a:solidFill>
                  <a:srgbClr val="17171B"/>
                </a:solidFill>
              </a:rPr>
              <a:t>Today:</a:t>
            </a:r>
            <a:r>
              <a:rPr lang="en-US" sz="1450" dirty="0">
                <a:solidFill>
                  <a:srgbClr val="17171B"/>
                </a:solidFill>
              </a:rPr>
              <a:t> Tailwind CSS is widely used in modern web development, including projects built with React, Vue, and other frontend technologies.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566928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The same button, two ways</a:t>
            </a:r>
            <a:endParaRPr lang="en-US" sz="3800" dirty="0"/>
          </a:p>
        </p:txBody>
      </p:sp>
      <p:sp>
        <p:nvSpPr>
          <p:cNvPr id="3" name="buttonpanel-0"/>
          <p:cNvSpPr/>
          <p:nvPr/>
        </p:nvSpPr>
        <p:spPr>
          <a:xfrm>
            <a:off x="1024128" y="1993392"/>
            <a:ext cx="4974336" cy="4059936"/>
          </a:xfrm>
          <a:prstGeom prst="rect">
            <a:avLst/>
          </a:prstGeom>
          <a:solidFill>
            <a:srgbClr val="F2F3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08176" y="2267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C0000"/>
                </a:solidFill>
              </a:rPr>
              <a:t>CSS</a:t>
            </a:r>
            <a:endParaRPr lang="en-US" sz="2400" dirty="0"/>
          </a:p>
        </p:txBody>
      </p:sp>
      <p:sp>
        <p:nvSpPr>
          <p:cNvPr id="5" name="codebox"/>
          <p:cNvSpPr/>
          <p:nvPr/>
        </p:nvSpPr>
        <p:spPr>
          <a:xfrm>
            <a:off x="1408176" y="2743200"/>
            <a:ext cx="4206240" cy="3063240"/>
          </a:xfrm>
          <a:prstGeom prst="roundRect">
            <a:avLst>
              <a:gd name="adj" fmla="val 2687"/>
            </a:avLst>
          </a:prstGeom>
          <a:solidFill>
            <a:srgbClr val="1717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9344" y="2880360"/>
            <a:ext cx="380390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.my-button {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blue;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12px 24px;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8px;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class="my-button"&gt;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 me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400" dirty="0"/>
          </a:p>
        </p:txBody>
      </p:sp>
      <p:sp>
        <p:nvSpPr>
          <p:cNvPr id="7" name="buttonpanel-1"/>
          <p:cNvSpPr/>
          <p:nvPr/>
        </p:nvSpPr>
        <p:spPr>
          <a:xfrm>
            <a:off x="6163056" y="1993392"/>
            <a:ext cx="4974336" cy="4059936"/>
          </a:xfrm>
          <a:prstGeom prst="rect">
            <a:avLst/>
          </a:prstGeom>
          <a:solidFill>
            <a:srgbClr val="F2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47104" y="2267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C0000"/>
                </a:solidFill>
              </a:rPr>
              <a:t>Tailwind</a:t>
            </a:r>
            <a:endParaRPr lang="en-US" sz="2400" dirty="0"/>
          </a:p>
        </p:txBody>
      </p:sp>
      <p:sp>
        <p:nvSpPr>
          <p:cNvPr id="9" name="codebox"/>
          <p:cNvSpPr/>
          <p:nvPr/>
        </p:nvSpPr>
        <p:spPr>
          <a:xfrm>
            <a:off x="6547104" y="2743200"/>
            <a:ext cx="4206240" cy="3063240"/>
          </a:xfrm>
          <a:prstGeom prst="roundRect">
            <a:avLst>
              <a:gd name="adj" fmla="val 2687"/>
            </a:avLst>
          </a:prstGeom>
          <a:solidFill>
            <a:srgbClr val="17171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48272" y="2880360"/>
            <a:ext cx="380390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class="bg-blue-500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text-white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px-6 py-3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rounded-lg"&gt;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 me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566928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Learn Tailwind</a:t>
            </a:r>
            <a:endParaRPr lang="en-US" sz="3800" dirty="0"/>
          </a:p>
        </p:txBody>
      </p:sp>
      <p:pic>
        <p:nvPicPr>
          <p:cNvPr id="3" name="windsock" descr="/home/claude/art/windso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993392"/>
            <a:ext cx="4974336" cy="27980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24128" y="4919472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3F4451"/>
                </a:solidFill>
              </a:rPr>
              <a:t>A tailwind is the wind behind you — it makes the same journey faster.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163056" y="2011680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171B"/>
                </a:solidFill>
              </a:rPr>
              <a:t>Official documentation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163056" y="230428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4451"/>
                </a:solidFill>
              </a:rPr>
              <a:t>The reference for every utility class, and the installation guides.</a:t>
            </a:r>
            <a:endParaRPr lang="en-US" sz="1300" dirty="0"/>
          </a:p>
        </p:txBody>
      </p:sp>
      <p:sp>
        <p:nvSpPr>
          <p:cNvPr id="7" name="Text 4">
            <a:hlinkClick r:id="rId4"/>
          </p:cNvPr>
          <p:cNvSpPr txBox="1"/>
          <p:nvPr/>
        </p:nvSpPr>
        <p:spPr>
          <a:xfrm>
            <a:off x="6163056" y="257860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CC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tailwindcss.com/docs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163056" y="3017520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171B"/>
                </a:solidFill>
              </a:rPr>
              <a:t>Tailwind Play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6163056" y="331012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4451"/>
                </a:solidFill>
              </a:rPr>
              <a:t>An online playground. Try utilities in the browser, nothing to install.</a:t>
            </a:r>
            <a:endParaRPr lang="en-US" sz="1300" dirty="0"/>
          </a:p>
        </p:txBody>
      </p:sp>
      <p:sp>
        <p:nvSpPr>
          <p:cNvPr id="10" name="Text 7">
            <a:hlinkClick r:id="rId5"/>
          </p:cNvPr>
          <p:cNvSpPr txBox="1"/>
          <p:nvPr/>
        </p:nvSpPr>
        <p:spPr>
          <a:xfrm>
            <a:off x="6163056" y="358444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play.tailwindcss.com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163056" y="4023360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171B"/>
                </a:solidFill>
              </a:rPr>
              <a:t>Tailwind Labs on YouTube</a:t>
            </a:r>
            <a:endParaRPr lang="en-US" sz="1650" dirty="0"/>
          </a:p>
        </p:txBody>
      </p:sp>
      <p:sp>
        <p:nvSpPr>
          <p:cNvPr id="12" name="Text 9"/>
          <p:cNvSpPr txBox="1"/>
          <p:nvPr/>
        </p:nvSpPr>
        <p:spPr>
          <a:xfrm>
            <a:off x="6163056" y="43159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4451"/>
                </a:solidFill>
              </a:rPr>
              <a:t>Video tutorials from the team that builds Tailwind.</a:t>
            </a:r>
            <a:endParaRPr lang="en-US" sz="1300" dirty="0"/>
          </a:p>
        </p:txBody>
      </p:sp>
      <p:sp>
        <p:nvSpPr>
          <p:cNvPr id="13" name="Text 10">
            <a:hlinkClick r:id="rId6"/>
          </p:cNvPr>
          <p:cNvSpPr txBox="1"/>
          <p:nvPr/>
        </p:nvSpPr>
        <p:spPr>
          <a:xfrm>
            <a:off x="6163056" y="459028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CC00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youtube.com/@TailwindLabs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163056" y="5029200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171B"/>
                </a:solidFill>
              </a:rPr>
              <a:t>MDN CSS reference</a:t>
            </a:r>
            <a:endParaRPr lang="en-US" sz="1650" dirty="0"/>
          </a:p>
        </p:txBody>
      </p:sp>
      <p:sp>
        <p:nvSpPr>
          <p:cNvPr id="15" name="Text 12"/>
          <p:cNvSpPr txBox="1"/>
          <p:nvPr/>
        </p:nvSpPr>
        <p:spPr>
          <a:xfrm>
            <a:off x="6163056" y="532180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4451"/>
                </a:solidFill>
              </a:rPr>
              <a:t>Learn the CSS underneath, so the utility classes make sense.</a:t>
            </a:r>
            <a:endParaRPr lang="en-US" sz="1300" dirty="0"/>
          </a:p>
        </p:txBody>
      </p:sp>
      <p:sp>
        <p:nvSpPr>
          <p:cNvPr id="16" name="Text 13">
            <a:hlinkClick r:id="rId7"/>
          </p:cNvPr>
          <p:cNvSpPr txBox="1"/>
          <p:nvPr/>
        </p:nvSpPr>
        <p:spPr>
          <a:xfrm>
            <a:off x="6163056" y="559612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CC00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developer.mozilla.org/en-US/docs/Web/CSS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" y="320040"/>
            <a:ext cx="11795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182880" y="2286000"/>
            <a:ext cx="11795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8E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5000" dirty="0"/>
          </a:p>
        </p:txBody>
      </p:sp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676656" y="5532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kern="0" spc="150" dirty="0">
                <a:solidFill>
                  <a:srgbClr val="FFFFFF"/>
                </a:solidFill>
              </a:rPr>
              <a:t>WRITTEN BY LAAMIM ANAS &amp;&amp; </a:t>
            </a:r>
            <a:r>
              <a:rPr lang="fr-FR" dirty="0"/>
              <a:t>ZAKARIA TABILLAT 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S Tailwind Bootstrap">
  <a:themeElements>
    <a:clrScheme name="CSS Tailwind Bootstrap">
      <a:dk1>
        <a:srgbClr val="17171B"/>
      </a:dk1>
      <a:lt1>
        <a:srgbClr val="FFFFFF"/>
      </a:lt1>
      <a:dk2>
        <a:srgbClr val="3F4451"/>
      </a:dk2>
      <a:lt2>
        <a:srgbClr val="F2F3F7"/>
      </a:lt2>
      <a:accent1>
        <a:srgbClr val="CC0000"/>
      </a:accent1>
      <a:accent2>
        <a:srgbClr val="7A0010"/>
      </a:accent2>
      <a:accent3>
        <a:srgbClr val="E8453C"/>
      </a:accent3>
      <a:accent4>
        <a:srgbClr val="8B5CF6"/>
      </a:accent4>
      <a:accent5>
        <a:srgbClr val="0EA5E9"/>
      </a:accent5>
      <a:accent6>
        <a:srgbClr val="F2C14E"/>
      </a:accent6>
      <a:hlink>
        <a:srgbClr val="CC0000"/>
      </a:hlink>
      <a:folHlink>
        <a:srgbClr val="7A0010"/>
      </a:folHlink>
    </a:clrScheme>
    <a:fontScheme name="CSS Tailwind Bootstra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1242</Words>
  <Application>Microsoft Office PowerPoint</Application>
  <PresentationFormat>Grand écran</PresentationFormat>
  <Paragraphs>132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CSS Tailwind Bootstrap</vt:lpstr>
      <vt:lpstr>What is the difference between CSS, Tailwind and Bootstrap?</vt:lpstr>
      <vt:lpstr>What is the difference between a framework and a library?</vt:lpstr>
      <vt:lpstr>Who calls who?</vt:lpstr>
      <vt:lpstr>Bootstrap</vt:lpstr>
      <vt:lpstr>Qu'est-ce que Bootstrap ?</vt:lpstr>
      <vt:lpstr>Qui a créé Bootstrap et Quand ?</vt:lpstr>
      <vt:lpstr>Quelle est la différence entre Bootstrap et le CSS ?</vt:lpstr>
      <vt:lpstr>Research Results</vt:lpstr>
      <vt:lpstr>Tailwind</vt:lpstr>
      <vt:lpstr>The same button, two ways</vt:lpstr>
      <vt:lpstr>Learn Tailwind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CSS, Tailwind and Bootstrap</dc:title>
  <dc:subject>Framework or library, and what Bootstrap is</dc:subject>
  <dc:creator>PptxGenJS</dc:creator>
  <cp:lastModifiedBy>lenovo</cp:lastModifiedBy>
  <cp:revision>2</cp:revision>
  <dcterms:created xsi:type="dcterms:W3CDTF">2026-10-14T03:48:02Z</dcterms:created>
  <dcterms:modified xsi:type="dcterms:W3CDTF">2026-10-14T13:06:18Z</dcterms:modified>
</cp:coreProperties>
</file>